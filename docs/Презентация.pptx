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95" r:id="rId4"/>
    <p:sldId id="288" r:id="rId5"/>
    <p:sldId id="293" r:id="rId6"/>
    <p:sldId id="290" r:id="rId7"/>
    <p:sldId id="296" r:id="rId8"/>
    <p:sldId id="29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87" autoAdjust="0"/>
    <p:restoredTop sz="77427" autoAdjust="0"/>
  </p:normalViewPr>
  <p:slideViewPr>
    <p:cSldViewPr snapToGrid="0">
      <p:cViewPr varScale="1">
        <p:scale>
          <a:sx n="59" d="100"/>
          <a:sy n="59" d="100"/>
        </p:scale>
        <p:origin x="8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A18DC-4187-44F9-99A0-F9F880F25176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74BE2-8D34-4770-8974-CCC62952A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79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5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dirty="0"/>
              <a:t>На этапе функционального проектирования программного продукта построены диаграммы </a:t>
            </a:r>
          </a:p>
          <a:p>
            <a:pPr algn="l"/>
            <a:r>
              <a:rPr lang="ru-RU" dirty="0"/>
              <a:t>вариантов использования (</a:t>
            </a:r>
            <a:r>
              <a:rPr lang="en-US" dirty="0"/>
              <a:t>USES CASE)</a:t>
            </a:r>
            <a:r>
              <a:rPr lang="ru-RU" dirty="0"/>
              <a:t> на которой вделано … (вставить) … ролей 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Диаграмма деятельности  -для  моделировании бизнес-процессов, технологических процессов, и демонстрации последовательных действий.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07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ER-модель базы данных ……., которая содержит …..(вставить количество)  таблиц….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38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04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…..(вставить вид деятельности) в части реализации функционала …..(вставить)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</a:t>
            </a:r>
          </a:p>
          <a:p>
            <a:endParaRPr lang="ru-RU" dirty="0"/>
          </a:p>
          <a:p>
            <a:r>
              <a:rPr lang="ru-RU" dirty="0"/>
              <a:t>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B9D07-A1F9-4C23-B5D4-C1A01773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678D3E-1EB8-40C9-96E3-FA612BFD6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31C56-6701-4338-B85B-F04C9851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717B9C-BBC3-43BE-8DF6-9B49AAC1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E9B58F-8CD5-4B2E-AED2-31E9B50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19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A995-9987-4735-8BA5-0F21B33A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36F17-53E8-4186-A6CE-924DD844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C6BA93-071C-4D34-829D-246357DF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AC2F89-6F2A-4ADD-9832-D0DC4F06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EEAF76-DD2F-479D-A300-90E0B9F3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1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3F17C-CDEB-4452-8BE6-F34AB8DC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7E3F62-C3FD-4EB2-9BE2-917703EF8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B743E-8C86-4D25-BD3E-2E0B5E26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83A7B2-55D4-41C0-9276-CC79B819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147ECC-9151-42A4-B347-A9D52BF11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13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D2723-4850-4E37-ABF8-56EF6222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E289F3-B183-4365-8717-6D92A8039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8BC1B4-5EA9-4E45-9408-49CAA2C63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4BBE8B-8861-4138-9E86-2382DCE1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D5BF59-202D-47C9-ABDC-7FA83FF3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500D3C-2FAE-4E9D-939B-FE04DE0AA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07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DCC6A-5464-4973-8845-D04EA8A9A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1C0D3E-0AC1-4AC4-9918-4FCB61742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122EDF-A163-438A-86D7-DFA507BAB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1066C8-FC39-46C0-B7E5-AD6ADB4B5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16C653-C3A7-4BF7-957D-F969726FA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BF78A3-D807-424A-B95D-C2931C21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F3D2CD2-82A5-4A13-9E15-2DD17E7F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7C9E00-91DD-42FA-B58A-0C78F8E0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63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6C7CB-0F1B-4C82-91AE-4A2C2875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DF09F9-A690-444B-913F-FFAE8B3F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77F6C0-CE0A-4B4D-B4AB-B9E89A47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866D6-955B-4567-86E4-80B472F2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15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9BA5EB-8A08-453D-8DFB-65386CA2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E865F-D81B-4909-AFB5-326FC5A7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F29450-0280-4187-A26D-CE4F809E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850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F97D7-1653-4C77-80C6-758FF5B2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8AE5FD-C504-432E-B848-296B0BA9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D351E3-4539-4ECD-A5DC-FCCDABAC8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81A784-7C38-4022-832D-DB73CFE7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4B6AFA-76BE-4811-A8EA-28E63887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03572D-A666-453B-AF2D-6C0B5DB2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99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AB704-7BCB-4B0D-AC86-F3D41C00F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AFF7E1-9D95-4EAF-8DAA-E8857BB92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09DA12-2915-401E-9FD8-2009F77F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4E1DFF-81F8-4580-B491-25ACFBDE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16F317-5B00-4936-ADD4-8CA2B3B7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CB2722-1E90-4D6D-974B-12A3856E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88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EE26B-38FB-4DFA-8D11-85CC2506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144AB6-84A3-4DBF-B44E-BB9675E11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438BE-6F8F-400E-975B-BE000BCB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9FE595-5F7E-4CCB-975C-5A8908C1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9A432D-4563-469B-976A-508DE9BD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34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BDA43D9-CC8E-4814-877E-4CB54568C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A0CE89-AE54-4867-94DA-675D1B93F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AD148B-10FD-44F7-AE22-9083ED78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18266-8641-450B-9D85-43D40643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A54D5-2EE6-4EC3-B399-2F7FF119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226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7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C6439-8E8D-4563-8FCC-2D3F0E1C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CC762F-B9CF-4214-BA21-47E30FD6A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30626D-19EF-42AE-AABA-405B52A67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64425-4534-4D86-8C99-570E7860C821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C1C84A-E1F3-4CC4-A1FF-3DD89E37F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084E64-39C5-476E-B2EC-0AD0DE2ED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493E3-75CF-4847-BC09-9BC3427FF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28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292626" y="2166319"/>
            <a:ext cx="7328451" cy="23526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Курсовой проект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Информационная система «Управление складом и запасами»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7123679" y="4910703"/>
            <a:ext cx="5214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Горшков А.А.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ИС-22-1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Кудрявцева М.А.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2025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B79B-7594-4921-BA1F-06C9D70C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Цель, функциональные задачи программного продукта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CA25DB-6F8A-4B08-A1EE-2D1DDBC25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Цель: </a:t>
            </a:r>
            <a:r>
              <a:rPr lang="ru-RU" dirty="0"/>
              <a:t>разработать информационную систему «Управление складом и запасами»</a:t>
            </a:r>
          </a:p>
          <a:p>
            <a:pPr marL="0" indent="0">
              <a:buNone/>
            </a:pPr>
            <a:r>
              <a:rPr lang="ru-RU" b="1" dirty="0"/>
              <a:t>Функциональные задачи программного продукта:</a:t>
            </a:r>
          </a:p>
          <a:p>
            <a:r>
              <a:rPr lang="ru-RU" dirty="0"/>
              <a:t>Авторизация и регистрация пользователей;</a:t>
            </a:r>
          </a:p>
          <a:p>
            <a:r>
              <a:rPr lang="ru-RU" dirty="0"/>
              <a:t>Авторизация при помощи учетной записи Яндекс;</a:t>
            </a:r>
          </a:p>
          <a:p>
            <a:r>
              <a:rPr lang="ru-RU" dirty="0"/>
              <a:t>Управление личным кабинетом пользователя;</a:t>
            </a:r>
          </a:p>
          <a:p>
            <a:r>
              <a:rPr lang="ru-RU" dirty="0"/>
              <a:t>Поиск и фильтрация товаров;</a:t>
            </a:r>
          </a:p>
          <a:p>
            <a:r>
              <a:rPr lang="ru-RU" dirty="0"/>
              <a:t>Создание отчетов;</a:t>
            </a:r>
          </a:p>
          <a:p>
            <a:r>
              <a:rPr lang="ru-RU" dirty="0"/>
              <a:t>Добавление товара в заявку;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6055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3298926" y="290048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</a:rPr>
              <a:t>Предметная курсового проекта</a:t>
            </a:r>
            <a:endParaRPr lang="ru-RU" sz="3200" b="1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720048" y="1613645"/>
            <a:ext cx="5288866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Информационная система «Система управления складом и запасами» представляет собой комплекс взаимосвязанных программных модулей и баз данных, предназначенных для автоматизации процессов учёта товаров, управления складскими операциями, контроля остатков и формирования отчётности.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3F9BC-4E99-45F3-A492-772A0CCF5663}"/>
              </a:ext>
            </a:extLst>
          </p:cNvPr>
          <p:cNvSpPr txBox="1"/>
          <p:nvPr/>
        </p:nvSpPr>
        <p:spPr>
          <a:xfrm>
            <a:off x="6495217" y="3438501"/>
            <a:ext cx="4538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связанная с предметной областью</a:t>
            </a:r>
          </a:p>
          <a:p>
            <a:r>
              <a:rPr lang="ru-RU" dirty="0"/>
              <a:t> (можно несколько)</a:t>
            </a:r>
          </a:p>
        </p:txBody>
      </p:sp>
      <p:pic>
        <p:nvPicPr>
          <p:cNvPr id="1026" name="Picture 2" descr="https://avatars.mds.yandex.net/i?id=40ff6c3baaa2fe4b552297c25180d1917fdc554a-4612938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914" y="1613645"/>
            <a:ext cx="5516895" cy="314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656314"/>
              </p:ext>
            </p:extLst>
          </p:nvPr>
        </p:nvGraphicFramePr>
        <p:xfrm>
          <a:off x="510028" y="988185"/>
          <a:ext cx="11171940" cy="49826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Draw.io, Visio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Figma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Studio Code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Bootstrap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PHPUnit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pic>
        <p:nvPicPr>
          <p:cNvPr id="1026" name="Picture 2" descr="https://avatars.mds.yandex.net/i?id=0c95e91863ce19b478106b6405121641158b779d-4960885-images-thumbs&amp;n=13">
            <a:extLst>
              <a:ext uri="{FF2B5EF4-FFF2-40B4-BE49-F238E27FC236}">
                <a16:creationId xmlns:a16="http://schemas.microsoft.com/office/drawing/2014/main" id="{B0FABC39-478C-4BCF-BC7B-E7ACF8DED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28"/>
          <a:stretch/>
        </p:blipFill>
        <p:spPr bwMode="auto">
          <a:xfrm>
            <a:off x="5251172" y="1442722"/>
            <a:ext cx="563217" cy="5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avatars.mds.yandex.net/i?id=da22283a7a3521fa5d184e8be8717f000032bdd7-10107139-images-thumbs&amp;n=13">
            <a:extLst>
              <a:ext uri="{FF2B5EF4-FFF2-40B4-BE49-F238E27FC236}">
                <a16:creationId xmlns:a16="http://schemas.microsoft.com/office/drawing/2014/main" id="{6763F6AA-394D-42ED-9663-D4D3B4E82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66" t="9014" r="27391" b="16561"/>
          <a:stretch/>
        </p:blipFill>
        <p:spPr bwMode="auto">
          <a:xfrm>
            <a:off x="5615072" y="4063698"/>
            <a:ext cx="960033" cy="5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avatars.mds.yandex.net/i?id=cccc7fe6be76c34eb0cb301655ce0067085c47fa-5234419-images-thumbs&amp;n=13">
            <a:extLst>
              <a:ext uri="{FF2B5EF4-FFF2-40B4-BE49-F238E27FC236}">
                <a16:creationId xmlns:a16="http://schemas.microsoft.com/office/drawing/2014/main" id="{36A70EAD-B9F0-449D-92A0-1BF3003F5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9" t="3150" r="6207" b="11631"/>
          <a:stretch/>
        </p:blipFill>
        <p:spPr bwMode="auto">
          <a:xfrm>
            <a:off x="5768848" y="3351562"/>
            <a:ext cx="652479" cy="6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avatars.mds.yandex.net/i?id=3187153ea163269a2b41cf55a621ee744c8f260e-10131513-images-thumbs&amp;n=13">
            <a:extLst>
              <a:ext uri="{FF2B5EF4-FFF2-40B4-BE49-F238E27FC236}">
                <a16:creationId xmlns:a16="http://schemas.microsoft.com/office/drawing/2014/main" id="{D2365657-EAB6-48CC-908F-3F72332F1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0" t="20055" r="37869" b="36331"/>
          <a:stretch/>
        </p:blipFill>
        <p:spPr bwMode="auto">
          <a:xfrm>
            <a:off x="5177358" y="4643551"/>
            <a:ext cx="668775" cy="66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Вектор в фигме">
            <a:extLst>
              <a:ext uri="{FF2B5EF4-FFF2-40B4-BE49-F238E27FC236}">
                <a16:creationId xmlns:a16="http://schemas.microsoft.com/office/drawing/2014/main" id="{44115F3E-6AB1-4B24-8B89-A8AC05147D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01" t="23333" r="39501" b="24767"/>
          <a:stretch/>
        </p:blipFill>
        <p:spPr bwMode="auto">
          <a:xfrm>
            <a:off x="5860490" y="2733125"/>
            <a:ext cx="469201" cy="63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avatars.mds.yandex.net/i?id=33b8656b808466624590987098f31cfedb1a006d-10929043-images-thumbs&amp;n=13">
            <a:extLst>
              <a:ext uri="{FF2B5EF4-FFF2-40B4-BE49-F238E27FC236}">
                <a16:creationId xmlns:a16="http://schemas.microsoft.com/office/drawing/2014/main" id="{02EEEF2C-FFD2-498F-A197-9AC5D44F1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" t="14808" r="53333" b="13817"/>
          <a:stretch/>
        </p:blipFill>
        <p:spPr bwMode="auto">
          <a:xfrm>
            <a:off x="6192193" y="1418853"/>
            <a:ext cx="581941" cy="5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yandex-images.clstorage.net/9o7kv3w65/c3b740tyyBB/7KdPd6a2NvFGXjbI35v5jMi232507GmlcTpAk4KMoaHHUxpfinF0iDTOPL3uPeXY4ErlykVrQWzeBeuW_1g0xK30XGd28WBkF9ll295ZuIsacY1uZSt9J7T8ldFSDHY30lMBBdatqYcrF6D1JeA2GCJfcNiCb5A2hBR7Rn3aIw2toUJ3LGF1MkaAOQmeUHCKF3Uf6G0jt2IwqdEblt90IwANBIRYbqHJrFUo9edoOhmkG3fWVOHQfcIBPwo6XatHIWHP_qNssPUPyPNL31d1zlOwn2Oprr1s_OQfHhXesKqNisqIGqGrjCCeavGu4zPe6lhzXV-i2DrHBXdLNZkhjKGnQnEpbvszj4T2zJkSck8T9Fhupmb6pnnn19uel_kgBQ9ORBfp4kCpliP1JWb0kCxXf9PRoZi4QwT6BfTQrEdm74UxL2E9dQOHsALfEjaCnzDVKmrq8m144x_QVFc1IETEBwLYbm9L4tYoMSctsl5hnfNXUCaTdEAINMt-XGZMICHP86fmPLlOjnOAFJm6SR64mC9iKLev-eheV9ORN6RGicoO3q4lgGndJ_mjabAa7Zx825JgXrBKhTZOs5NpAGXqwjmrqXkxCwD8iZEeMs8auJumaq61qzQomVBXWD7hTw4OiVvv6oaokio5r-iym6GffZtS4Ni9woHzx7WZao8uLMT45q15tMIEfIXV0DRIlzmaKO4u-6v0LJXSX1dz7MODToucoK8DZlAgsKPmulgt2_0WFOicMIdEM4n91auBqmCH_SngvfVADXtLV1jywdh82uCn4nrk8GRQUpIfveRDBgdIUu_oievdoLXj5rGUYpAw15mnkTjOzP7LfVvpBqrryzjo5fG2QEsyjBpRtEbVM9bh7-q1ZDWonhqV1v3lygYOR9rpYUItE6j9q2K1nKAbcdtSr16wgg40wLyUKEwg78Pw4uV8cwiGe8Xel3lLn7EXouFnP2y8LpaXUE">
            <a:extLst>
              <a:ext uri="{FF2B5EF4-FFF2-40B4-BE49-F238E27FC236}">
                <a16:creationId xmlns:a16="http://schemas.microsoft.com/office/drawing/2014/main" id="{FF890EB4-282B-411B-ABB5-E58ACD29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8" t="16532" r="8951" b="20417"/>
          <a:stretch/>
        </p:blipFill>
        <p:spPr bwMode="auto">
          <a:xfrm>
            <a:off x="5530848" y="2087572"/>
            <a:ext cx="1130300" cy="60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CED31301-1B00-4809-9786-73BB9B81B0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Picture background">
            <a:extLst>
              <a:ext uri="{FF2B5EF4-FFF2-40B4-BE49-F238E27FC236}">
                <a16:creationId xmlns:a16="http://schemas.microsoft.com/office/drawing/2014/main" id="{84EE13A8-0F93-4B4E-B412-40F309110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Picture background">
            <a:extLst>
              <a:ext uri="{FF2B5EF4-FFF2-40B4-BE49-F238E27FC236}">
                <a16:creationId xmlns:a16="http://schemas.microsoft.com/office/drawing/2014/main" id="{B16EDFEB-FF8F-4F8E-B345-79EAC9904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7291" y="625615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058880-E649-4C7B-858B-54106B135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812" y="4551964"/>
            <a:ext cx="1330775" cy="8871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332B814-CE69-430C-AA49-3DB147B8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7099" y="5319264"/>
            <a:ext cx="688600" cy="57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5" y="223148"/>
            <a:ext cx="8928586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1095160" y="1248389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1188873" y="4102412"/>
            <a:ext cx="2744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Картинка диаграммы </a:t>
            </a:r>
          </a:p>
          <a:p>
            <a:pPr algn="ctr"/>
            <a:r>
              <a:rPr lang="ru-RU" dirty="0"/>
              <a:t>вариантов использования</a:t>
            </a:r>
          </a:p>
          <a:p>
            <a:pPr algn="ctr"/>
            <a:r>
              <a:rPr lang="ru-RU" dirty="0"/>
              <a:t> (</a:t>
            </a:r>
            <a:r>
              <a:rPr lang="en-US" dirty="0"/>
              <a:t>USES CASE)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470111" y="1248389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деятельности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DB463-03B1-406B-8C90-94477513324D}"/>
              </a:ext>
            </a:extLst>
          </p:cNvPr>
          <p:cNvSpPr txBox="1"/>
          <p:nvPr/>
        </p:nvSpPr>
        <p:spPr>
          <a:xfrm>
            <a:off x="7328210" y="4056692"/>
            <a:ext cx="3674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диаграммы деятельности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B503A99-C30B-46DA-AFAB-13159D4C39F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05008" y="1739344"/>
            <a:ext cx="4231698" cy="48001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5C01130-81E9-4B82-8BDC-840BB6463E1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03545" y="1739438"/>
            <a:ext cx="5400567" cy="46345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7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285" y="177119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5417036" y="1320119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4993294" y="3631721"/>
            <a:ext cx="22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</a:t>
            </a:r>
            <a:r>
              <a:rPr lang="en-US" dirty="0"/>
              <a:t>ER-</a:t>
            </a:r>
            <a:r>
              <a:rPr lang="ru-RU" dirty="0"/>
              <a:t>модели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FF7AF2-D934-4440-9240-BF9A0705D1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63994" y="1720228"/>
            <a:ext cx="5464011" cy="43431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79" y="2886256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курсового проекта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67" y="81542"/>
            <a:ext cx="3643659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58393"/>
              </p:ext>
            </p:extLst>
          </p:nvPr>
        </p:nvGraphicFramePr>
        <p:xfrm>
          <a:off x="351692" y="1005840"/>
          <a:ext cx="11215893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Функциональные задачи программного продукта: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Проектирование и разработка информационных  систем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Собрал исходные данные для разработки информационной системы.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Разработал проектную документацию на разработку  информационной системы.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Произвести разработку в соответствии с заданием на курсовую работу (в части реализации функционала).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Разработал техническую документацию на эксплуатацию в виде руководства пользователя.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493</Words>
  <Application>Microsoft Office PowerPoint</Application>
  <PresentationFormat>Широкоэкранный</PresentationFormat>
  <Paragraphs>107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Цель, функциональные задачи программного продукта</vt:lpstr>
      <vt:lpstr>Презентация PowerPoint</vt:lpstr>
      <vt:lpstr>Презентация PowerPoint</vt:lpstr>
      <vt:lpstr>Проектирование программного продукта</vt:lpstr>
      <vt:lpstr>Проектирование базы данных</vt:lpstr>
      <vt:lpstr>Демонстрация курсового проекта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Типухина Ирина Владимировна</dc:creator>
  <cp:lastModifiedBy>Горшков Антон Артемович</cp:lastModifiedBy>
  <cp:revision>13</cp:revision>
  <dcterms:created xsi:type="dcterms:W3CDTF">2024-06-04T03:14:49Z</dcterms:created>
  <dcterms:modified xsi:type="dcterms:W3CDTF">2025-12-18T01:05:36Z</dcterms:modified>
</cp:coreProperties>
</file>